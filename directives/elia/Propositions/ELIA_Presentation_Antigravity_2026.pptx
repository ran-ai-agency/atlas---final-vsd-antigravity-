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ÉLIA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Votre Équipe Dirigeante IA</a:t>
            </a:r>
            <a:br/>
            <a:br/>
            <a:r>
              <a:t>Proposition mise à jour - Janvier 2026</a:t>
            </a:r>
            <a:br/>
            <a:r>
              <a:t>Architecture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Le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Marie Boudreau, fondatrice de Sanssoucis.ca</a:t>
            </a:r>
          </a:p>
          <a:p>
            <a:pPr>
              <a:spcAft>
                <a:spcPts val="1200"/>
              </a:spcAft>
              <a:defRPr sz="2200"/>
            </a:pPr>
            <a:r>
              <a:t>• Services d'adjointe virtuelle + Gestionnaire District GR International</a:t>
            </a:r>
          </a:p>
          <a:p>
            <a:pPr>
              <a:spcAft>
                <a:spcPts val="1200"/>
              </a:spcAft>
              <a:defRPr sz="2200"/>
            </a:pPr>
            <a:r>
              <a:t>• Défi: Gérer sa propre administration tout en servant ses clients</a:t>
            </a:r>
          </a:p>
          <a:p>
            <a:pPr>
              <a:spcAft>
                <a:spcPts val="1200"/>
              </a:spcAft>
              <a:defRPr sz="2200"/>
            </a:pPr>
            <a:r>
              <a:t>• Objectif: Libérer 40+ heures/semaine grâce à l'IA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Nouvelle Infrastructure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ANTIGRAVITY: Orchestrateur IA de nouvelle génération</a:t>
            </a:r>
          </a:p>
          <a:p>
            <a:pPr>
              <a:spcAft>
                <a:spcPts val="1200"/>
              </a:spcAft>
              <a:defRPr sz="2200"/>
            </a:pPr>
            <a:r>
              <a:t>•    → Même système qu'Atlas (Ran.AI Agency)</a:t>
            </a:r>
          </a:p>
          <a:p>
            <a:pPr>
              <a:spcAft>
                <a:spcPts val="1200"/>
              </a:spcAft>
              <a:defRPr sz="2200"/>
            </a:pPr>
            <a:r>
              <a:t>•    → Capacité d'action autonome, pas juste de réponse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ZOHO ONE: Accès complet et direct</a:t>
            </a:r>
          </a:p>
          <a:p>
            <a:pPr>
              <a:spcAft>
                <a:spcPts val="1200"/>
              </a:spcAft>
              <a:defRPr sz="2200"/>
            </a:pPr>
            <a:r>
              <a:t>•    → CRM, Books, Mail, Calendar, Projects - TOUT</a:t>
            </a:r>
          </a:p>
          <a:p>
            <a:pPr>
              <a:spcAft>
                <a:spcPts val="1200"/>
              </a:spcAft>
              <a:defRPr sz="2200"/>
            </a:pPr>
            <a:r>
              <a:t>•    → Fin des limitations API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NOTION: Cerveau central</a:t>
            </a:r>
          </a:p>
          <a:p>
            <a:pPr>
              <a:spcAft>
                <a:spcPts val="1200"/>
              </a:spcAft>
              <a:defRPr sz="2200"/>
            </a:pPr>
            <a:r>
              <a:t>•    → Base de connaissances unifiée</a:t>
            </a:r>
          </a:p>
          <a:p>
            <a:pPr>
              <a:spcAft>
                <a:spcPts val="1200"/>
              </a:spcAft>
              <a:defRPr sz="2200"/>
            </a:pPr>
            <a:r>
              <a:t>•    → Mémoire persistante et procédures (SOPs)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Les 6 Agents ELIA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AV (Assistant Virtuel): Emails, calendrier, tâches - Gain: 5-10h/sem</a:t>
            </a:r>
          </a:p>
          <a:p>
            <a:pPr>
              <a:spcAft>
                <a:spcPts val="1200"/>
              </a:spcAft>
              <a:defRPr sz="2200"/>
            </a:pPr>
            <a:r>
              <a:t>• COO (Opérations): Projets clients, suivi, reporting - Gain: 3-5h/sem</a:t>
            </a:r>
          </a:p>
          <a:p>
            <a:pPr>
              <a:spcAft>
                <a:spcPts val="1200"/>
              </a:spcAft>
              <a:defRPr sz="2200"/>
            </a:pPr>
            <a:r>
              <a:t>• CFO (Finance): Facturation, paiements, rapports - Gain: 2-4h/sem</a:t>
            </a:r>
          </a:p>
          <a:p>
            <a:pPr>
              <a:spcAft>
                <a:spcPts val="1200"/>
              </a:spcAft>
              <a:defRPr sz="2200"/>
            </a:pPr>
            <a:r>
              <a:t>• CMO (Marketing): Leads, contenu, campagnes - Gain: 2-3h/sem</a:t>
            </a:r>
          </a:p>
          <a:p>
            <a:pPr>
              <a:spcAft>
                <a:spcPts val="1200"/>
              </a:spcAft>
              <a:defRPr sz="2200"/>
            </a:pPr>
            <a:r>
              <a:t>• CTO (Technologie): Intégrations, optimisations - Gain: 1-2h/sem</a:t>
            </a:r>
          </a:p>
          <a:p>
            <a:pPr>
              <a:spcAft>
                <a:spcPts val="1200"/>
              </a:spcAft>
              <a:defRPr sz="2200"/>
            </a:pPr>
            <a:r>
              <a:t>• CEO (Stratégie): Vision, KPIs, décisions - Gain: 1-2h/sem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TOTAL: 14-26 heures/semaine libérées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6 Verticales Automatisées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GR International: 15h → 4h/semaine (73% de gain)</a:t>
            </a:r>
          </a:p>
          <a:p>
            <a:pPr>
              <a:spcAft>
                <a:spcPts val="1200"/>
              </a:spcAft>
              <a:defRPr sz="2200"/>
            </a:pPr>
            <a:r>
              <a:t>• Marketing: 8h → 2h/semaine (75% de gain)</a:t>
            </a:r>
          </a:p>
          <a:p>
            <a:pPr>
              <a:spcAft>
                <a:spcPts val="1200"/>
              </a:spcAft>
              <a:defRPr sz="2200"/>
            </a:pPr>
            <a:r>
              <a:t>• Livres/Écriture: 12h → 3h/semaine (75% de gain)</a:t>
            </a:r>
          </a:p>
          <a:p>
            <a:pPr>
              <a:spcAft>
                <a:spcPts val="1200"/>
              </a:spcAft>
              <a:defRPr sz="2200"/>
            </a:pPr>
            <a:r>
              <a:t>• Projet PVA: 8h → 2h/semaine (75% de gain)</a:t>
            </a:r>
          </a:p>
          <a:p>
            <a:pPr>
              <a:spcAft>
                <a:spcPts val="1200"/>
              </a:spcAft>
              <a:defRPr sz="2200"/>
            </a:pPr>
            <a:r>
              <a:t>• Clients: 7h → 1.5h/semaine (79% de gain)</a:t>
            </a:r>
          </a:p>
          <a:p>
            <a:pPr>
              <a:spcAft>
                <a:spcPts val="1200"/>
              </a:spcAft>
              <a:defRPr sz="2200"/>
            </a:pPr>
            <a:r>
              <a:t>• Création visuelle: 4h → 1h/semaine (75% de gain)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TOTAL: 54h → 13.5h/semaine = 75% de réduction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100 Cas d'Utilisation Concrets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Niveau 1 (Cas 1-20): Tâches quotidiennes - Gain immédiat</a:t>
            </a:r>
          </a:p>
          <a:p>
            <a:pPr>
              <a:spcAft>
                <a:spcPts val="1200"/>
              </a:spcAft>
              <a:defRPr sz="2200"/>
            </a:pPr>
            <a:r>
              <a:t>• Niveau 2 (Cas 21-60): Gestion opérationnelle &amp; Marketing</a:t>
            </a:r>
          </a:p>
          <a:p>
            <a:pPr>
              <a:spcAft>
                <a:spcPts val="1200"/>
              </a:spcAft>
              <a:defRPr sz="2200"/>
            </a:pPr>
            <a:r>
              <a:t>• Niveau 3 (Cas 61-85): Intelligence stratégique</a:t>
            </a:r>
          </a:p>
          <a:p>
            <a:pPr>
              <a:spcAft>
                <a:spcPts val="1200"/>
              </a:spcAft>
              <a:defRPr sz="2200"/>
            </a:pPr>
            <a:r>
              <a:t>• Niveau 4 (Cas 86-100): Planification &amp; Intelligence collective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Chaque cas détaille:</a:t>
            </a:r>
          </a:p>
          <a:p>
            <a:pPr>
              <a:spcAft>
                <a:spcPts val="1200"/>
              </a:spcAft>
              <a:defRPr sz="2200"/>
            </a:pPr>
            <a:r>
              <a:t>•    → Question en langage naturel</a:t>
            </a:r>
          </a:p>
          <a:p>
            <a:pPr>
              <a:spcAft>
                <a:spcPts val="1200"/>
              </a:spcAft>
              <a:defRPr sz="2200"/>
            </a:pPr>
            <a:r>
              <a:t>•    → Actions ELIA (Antigravity)</a:t>
            </a:r>
          </a:p>
          <a:p>
            <a:pPr>
              <a:spcAft>
                <a:spcPts val="1200"/>
              </a:spcAft>
              <a:defRPr sz="2200"/>
            </a:pPr>
            <a:r>
              <a:t>•    → Intégrations Zoho</a:t>
            </a:r>
          </a:p>
          <a:p>
            <a:pPr>
              <a:spcAft>
                <a:spcPts val="1200"/>
              </a:spcAft>
              <a:defRPr sz="2200"/>
            </a:pPr>
            <a:r>
              <a:t>•    → Résultats attendus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Pourquoi Antigravity?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AUTONOMIE RÉELLE</a:t>
            </a:r>
          </a:p>
          <a:p>
            <a:pPr>
              <a:spcAft>
                <a:spcPts val="1200"/>
              </a:spcAft>
              <a:defRPr sz="2200"/>
            </a:pPr>
            <a:r>
              <a:t>•    → ELIA ne fait pas que répondre, elle AGIT</a:t>
            </a:r>
          </a:p>
          <a:p>
            <a:pPr>
              <a:spcAft>
                <a:spcPts val="1200"/>
              </a:spcAft>
              <a:defRPr sz="2200"/>
            </a:pPr>
            <a:r>
              <a:t>•    → Exécution directe des tâches sans intervention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SÉCURITÉ LOCALE</a:t>
            </a:r>
          </a:p>
          <a:p>
            <a:pPr>
              <a:spcAft>
                <a:spcPts val="1200"/>
              </a:spcAft>
              <a:defRPr sz="2200"/>
            </a:pPr>
            <a:r>
              <a:t>•    → Données sensibles traitées localement</a:t>
            </a:r>
          </a:p>
          <a:p>
            <a:pPr>
              <a:spcAft>
                <a:spcPts val="1200"/>
              </a:spcAft>
              <a:defRPr sz="2200"/>
            </a:pPr>
            <a:r>
              <a:t>•    → Pas de transit par des serveurs tiers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PUISSANCE MAXIMALE</a:t>
            </a:r>
          </a:p>
          <a:p>
            <a:pPr>
              <a:spcAft>
                <a:spcPts val="1200"/>
              </a:spcAft>
              <a:defRPr sz="2200"/>
            </a:pPr>
            <a:r>
              <a:t>•    → Modèle Claude Opus 4.5 (le plus avancé)</a:t>
            </a:r>
          </a:p>
          <a:p>
            <a:pPr>
              <a:spcAft>
                <a:spcPts val="1200"/>
              </a:spcAft>
              <a:defRPr sz="2200"/>
            </a:pPr>
            <a:r>
              <a:t>•    → Capacité multi-agents coordonnés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Investissement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SETUP INITIAL: 3,500$ CAD</a:t>
            </a:r>
          </a:p>
          <a:p>
            <a:pPr>
              <a:spcAft>
                <a:spcPts val="1200"/>
              </a:spcAft>
              <a:defRPr sz="2200"/>
            </a:pPr>
            <a:r>
              <a:t>•    → Infrastructure Antigravity</a:t>
            </a:r>
          </a:p>
          <a:p>
            <a:pPr>
              <a:spcAft>
                <a:spcPts val="1200"/>
              </a:spcAft>
              <a:defRPr sz="2200"/>
            </a:pPr>
            <a:r>
              <a:t>•    → Configuration 6 agents ELIA</a:t>
            </a:r>
          </a:p>
          <a:p>
            <a:pPr>
              <a:spcAft>
                <a:spcPts val="1200"/>
              </a:spcAft>
              <a:defRPr sz="2200"/>
            </a:pPr>
            <a:r>
              <a:t>•    → Formation + 1 mois support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MENSUEL: 350-450$ CAD</a:t>
            </a:r>
          </a:p>
          <a:p>
            <a:pPr>
              <a:spcAft>
                <a:spcPts val="1200"/>
              </a:spcAft>
              <a:defRPr sz="2200"/>
            </a:pPr>
            <a:r>
              <a:t>•    → Hébergement + API Claude</a:t>
            </a:r>
          </a:p>
          <a:p>
            <a:pPr>
              <a:spcAft>
                <a:spcPts val="1200"/>
              </a:spcAft>
              <a:defRPr sz="2200"/>
            </a:pPr>
            <a:r>
              <a:t>•    → Support continu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ROI ESTIMÉ: 218% sur 6 mois</a:t>
            </a:r>
          </a:p>
          <a:p>
            <a:pPr>
              <a:spcAft>
                <a:spcPts val="1200"/>
              </a:spcAft>
              <a:defRPr sz="2200"/>
            </a:pPr>
            <a:r>
              <a:t>• Valeur annuelle libérée: 222,750$ CAD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Calendrier Proposé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19 janvier: Rencontre de validation</a:t>
            </a:r>
          </a:p>
          <a:p>
            <a:pPr>
              <a:spcAft>
                <a:spcPts val="1200"/>
              </a:spcAft>
              <a:defRPr sz="2200"/>
            </a:pPr>
            <a:r>
              <a:t>• 26 janvier: KICKOFF PROJET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Semaine 1 (26 jan): Infrastructure &amp; Setup Antigravity</a:t>
            </a:r>
          </a:p>
          <a:p>
            <a:pPr>
              <a:spcAft>
                <a:spcPts val="1200"/>
              </a:spcAft>
              <a:defRPr sz="2200"/>
            </a:pPr>
            <a:r>
              <a:t>• Semaine 2 (2 fév): Configuration Agents &amp; Accès</a:t>
            </a:r>
          </a:p>
          <a:p>
            <a:pPr>
              <a:spcAft>
                <a:spcPts val="1200"/>
              </a:spcAft>
              <a:defRPr sz="2200"/>
            </a:pPr>
            <a:r>
              <a:t>• Semaine 3 (9 fév): Formation &amp; Tests</a:t>
            </a:r>
          </a:p>
          <a:p>
            <a:pPr>
              <a:spcAft>
                <a:spcPts val="1200"/>
              </a:spcAft>
              <a:defRPr sz="2200"/>
            </a:pPr>
            <a:r>
              <a:t>• 16 février: GO-LIVE AUTONOME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Support inclus: 30 jours post-lancement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1. Valider vos priorités (via les 100 cas d'utilisation)</a:t>
            </a:r>
          </a:p>
          <a:p>
            <a:pPr>
              <a:spcAft>
                <a:spcPts val="1200"/>
              </a:spcAft>
              <a:defRPr sz="2200"/>
            </a:pPr>
            <a:r>
              <a:t>• 2. Confirmer le scope (Sanssoucis.ca + GR International?)</a:t>
            </a:r>
          </a:p>
          <a:p>
            <a:pPr>
              <a:spcAft>
                <a:spcPts val="1200"/>
              </a:spcAft>
              <a:defRPr sz="2200"/>
            </a:pPr>
            <a:r>
              <a:t>• 3. Signer et planifier le kickoff</a:t>
            </a:r>
          </a:p>
          <a:p>
            <a:pPr>
              <a:spcAft>
                <a:spcPts val="1200"/>
              </a:spcAft>
              <a:defRPr sz="2200"/>
            </a:pPr>
            <a:r>
              <a:t>• 4. Fournir les accès Zoho/Notion</a:t>
            </a:r>
          </a:p>
          <a:p>
            <a:pPr>
              <a:spcAft>
                <a:spcPts val="1200"/>
              </a:spcAft>
              <a:defRPr sz="2200"/>
            </a:pPr>
            <a:r>
              <a:t>• </a:t>
            </a:r>
          </a:p>
          <a:p>
            <a:pPr>
              <a:spcAft>
                <a:spcPts val="1200"/>
              </a:spcAft>
              <a:defRPr sz="2200"/>
            </a:pPr>
            <a:r>
              <a:t>•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Ran.AI Agency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Roland Ranaivoarison</a:t>
            </a:r>
            <a:br/>
            <a:r>
              <a:t>roland@ran-ai-agency.ca</a:t>
            </a:r>
            <a:br/>
            <a:r>
              <a:t>ran-ai-agency.ca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